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8360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05452-9FAE-32C5-F6BA-158F0E545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8BFB3-8398-5F2C-CA31-F1DE88130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017AF-D02B-06E8-B4DA-EE1D71E7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4CEB4-67B0-5328-05BA-4FD22F406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CC37-B86E-69E0-80AC-3F72B61D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58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06D89-9DD5-E6C7-D8E3-25E0BDA2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3E9C5-76E2-C434-D123-CB85E86D9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2E18E-6A3F-E3A2-506C-08F8496B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442E1-84BC-E72B-506C-FBB4F785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F1C84-71E0-8BAC-EE42-78B5A9D01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579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4D54-032C-A070-93A3-264C5126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129F6-A6BF-57C1-6DFD-BDD381B4C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ED345-C79F-5F48-9CAB-D256F84E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9D290-0CD5-309B-3D23-CB815D76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BA25E-05C0-48CD-EF24-E1FEA7B1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21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80D5-580F-9CE2-CAFB-EF4576633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6F94D-130E-03D9-98B0-09BE2FA51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A1310-5FA0-25FB-C7E3-D368D70C3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98E31-821F-4ECD-49C8-FE1767A17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AEBF2-399D-85E4-DBFA-D7068547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4148F-0D5C-6DFE-7F93-27CBD1D1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18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8C15-7FE6-9628-5539-9627E9CB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72A70-A3F9-6DB3-2252-CFE2CAF41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4EE11-586F-6AA3-7D7F-9DFDBF156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D2689-59AA-5E79-B7EB-6F84E3A20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A22BE4-4DF0-E104-8FE6-9F57D75BA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EA7C1C-1923-E770-CA25-F0069A711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FACAA8-37CB-2CD0-78EE-EDA7AB654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3A730C-AE0A-3F76-AB42-3CF30FBF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681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DBCF8-3DEB-4407-EE07-FDB0A219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96124-42C8-B972-4539-DE558120C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08776-E432-F3B7-064C-B4BA5AE3A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63E46-66CD-D24A-DCDD-2F7ABF0A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87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C321B-D01F-B3AA-73B7-1BC8B90E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BD857-8E86-5CE0-BE81-5088744F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3BD9F-C003-C3CB-2482-EC510B572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852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84B88-48E4-629C-68DB-828836997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A0960-75A7-B1AA-BF0D-847A539C5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2B91-C9DA-4375-7045-9275EE777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CD0F2-4D4F-8BE2-F840-9AEC7A842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530DF-C82A-6240-9054-90A5C4E9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F894B-3084-648E-C359-C7FCDB33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54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2A3D-E1EA-882A-2506-9A1030F7F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04E56-B102-3706-D56E-82B05FE4F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2389D-DEEC-097E-B12B-0B937C3E9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45514-B4FC-C301-83EE-CD2B7A6AC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476DF-F80E-9007-1CB9-826DBA0B5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0336E-4837-36F0-97E5-D4B281E4F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28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FDD61-0616-0A69-8418-6FAD85A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930FB-ED33-2B70-7821-0A8C8D6F8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DCDBB-DE9C-0039-51B4-340011FE6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F0CA4-EDCC-01E4-E398-4B51F0A6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87087-0C09-F43B-F3AF-4FBB0668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76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DD23AC-956A-D24F-7ACE-FE6A28833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F3E50-AB69-FE11-756F-8A1F124EB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98002-4E83-79CD-6512-AB55C8C6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F202C-DCC4-3C52-EE26-09D82B3D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B753C-E378-3C3A-A157-58294D94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10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gradient and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C559C79-0FEA-AC5A-9F3E-AA75A2DEAF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3177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559C79-0FEA-AC5A-9F3E-AA75A2DEAF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ABEAA99A-7BAD-DF3C-67A2-3EBD00C351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88" y="333375"/>
            <a:ext cx="7488009" cy="2363155"/>
          </a:xfrm>
          <a:prstGeom prst="rect">
            <a:avLst/>
          </a:prstGeom>
        </p:spPr>
        <p:txBody>
          <a:bodyPr vert="horz" anchor="t"/>
          <a:lstStyle>
            <a:lvl1pPr algn="l">
              <a:lnSpc>
                <a:spcPct val="100000"/>
              </a:lnSpc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Add slide title here </a:t>
            </a:r>
            <a:br>
              <a:rPr lang="en-US"/>
            </a:br>
            <a:r>
              <a:rPr lang="en-US"/>
              <a:t>[max three lines]</a:t>
            </a:r>
            <a:endParaRPr lang="en-GB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03B673D-E474-3CBB-B062-00DB5A30A7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8" y="2997000"/>
            <a:ext cx="5544012" cy="864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 [max three lines]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5B6063A-2898-5007-61F4-E151618A43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4149000"/>
            <a:ext cx="1656013" cy="20129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lang="en-US" sz="18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lang="en-GB"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>
              <a:lnSpc>
                <a:spcPts val="1800"/>
              </a:lnSpc>
            </a:pPr>
            <a:r>
              <a:rPr lang="en-US"/>
              <a:t>Date</a:t>
            </a:r>
            <a:endParaRPr lang="en-GB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24BB54-D0A8-66F4-B288-883EAC4B0885}"/>
              </a:ext>
            </a:extLst>
          </p:cNvPr>
          <p:cNvCxnSpPr>
            <a:cxnSpLocks/>
          </p:cNvCxnSpPr>
          <p:nvPr userDrawn="1"/>
        </p:nvCxnSpPr>
        <p:spPr>
          <a:xfrm>
            <a:off x="334963" y="333375"/>
            <a:ext cx="0" cy="6191250"/>
          </a:xfrm>
          <a:prstGeom prst="line">
            <a:avLst/>
          </a:prstGeom>
          <a:ln w="6350">
            <a:solidFill>
              <a:srgbClr val="D6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340889-06A9-D86D-95E8-CF7D78BC18FE}"/>
              </a:ext>
            </a:extLst>
          </p:cNvPr>
          <p:cNvCxnSpPr>
            <a:cxnSpLocks/>
          </p:cNvCxnSpPr>
          <p:nvPr userDrawn="1"/>
        </p:nvCxnSpPr>
        <p:spPr>
          <a:xfrm>
            <a:off x="11857038" y="333375"/>
            <a:ext cx="0" cy="6191250"/>
          </a:xfrm>
          <a:prstGeom prst="line">
            <a:avLst/>
          </a:prstGeom>
          <a:ln w="6350">
            <a:solidFill>
              <a:srgbClr val="D6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56CC1AE-13E2-2C6B-1395-871B8C85AB0B}"/>
              </a:ext>
            </a:extLst>
          </p:cNvPr>
          <p:cNvCxnSpPr>
            <a:cxnSpLocks/>
          </p:cNvCxnSpPr>
          <p:nvPr userDrawn="1"/>
        </p:nvCxnSpPr>
        <p:spPr>
          <a:xfrm>
            <a:off x="8016347" y="333375"/>
            <a:ext cx="0" cy="619125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4C2CC2-54CF-C79D-BD46-814D4E2A3B8D}"/>
              </a:ext>
            </a:extLst>
          </p:cNvPr>
          <p:cNvCxnSpPr>
            <a:cxnSpLocks/>
          </p:cNvCxnSpPr>
          <p:nvPr userDrawn="1"/>
        </p:nvCxnSpPr>
        <p:spPr>
          <a:xfrm>
            <a:off x="9936693" y="333375"/>
            <a:ext cx="0" cy="619125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CAACA3-B970-5128-335B-FC69EA8E3D06}"/>
              </a:ext>
            </a:extLst>
          </p:cNvPr>
          <p:cNvCxnSpPr>
            <a:cxnSpLocks/>
          </p:cNvCxnSpPr>
          <p:nvPr userDrawn="1"/>
        </p:nvCxnSpPr>
        <p:spPr>
          <a:xfrm>
            <a:off x="6096001" y="2997000"/>
            <a:ext cx="0" cy="352446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A3B038-E432-1894-7BE6-89146C11E27E}"/>
              </a:ext>
            </a:extLst>
          </p:cNvPr>
          <p:cNvCxnSpPr>
            <a:cxnSpLocks/>
          </p:cNvCxnSpPr>
          <p:nvPr userDrawn="1"/>
        </p:nvCxnSpPr>
        <p:spPr>
          <a:xfrm>
            <a:off x="4152000" y="4149000"/>
            <a:ext cx="0" cy="236889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2AA1A40A-9D4A-51FB-C88E-3B4DBB933296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2281628" y="5948362"/>
            <a:ext cx="1798372" cy="576263"/>
          </a:xfrm>
          <a:solidFill>
            <a:schemeClr val="bg1">
              <a:alpha val="5000"/>
            </a:schemeClr>
          </a:solidFill>
        </p:spPr>
        <p:txBody>
          <a:bodyPr lIns="0" tIns="0" rIns="0" bIns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715562-0307-41B8-5BF4-27A073B1945B}"/>
              </a:ext>
            </a:extLst>
          </p:cNvPr>
          <p:cNvCxnSpPr>
            <a:cxnSpLocks/>
          </p:cNvCxnSpPr>
          <p:nvPr userDrawn="1"/>
        </p:nvCxnSpPr>
        <p:spPr>
          <a:xfrm>
            <a:off x="2208000" y="4149000"/>
            <a:ext cx="0" cy="236889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56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2B8CBA-22EC-6CB6-2D4A-C90E495BD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E7F1C-8F83-3792-EE6C-2D2C990F4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8D896-14ED-7E29-D7DE-9C805D585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96487-9C78-4324-8ED4-80341D7BAC3D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01B27-94E4-7956-F9C6-DC12B5632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476E5-AEED-1F0B-F0C6-2827243CD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4E791-141C-4FAB-92AD-8749CE953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06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5228F5-E44B-A33F-B6D0-223AE965ECA1}"/>
              </a:ext>
            </a:extLst>
          </p:cNvPr>
          <p:cNvSpPr/>
          <p:nvPr/>
        </p:nvSpPr>
        <p:spPr>
          <a:xfrm>
            <a:off x="2781036" y="2914163"/>
            <a:ext cx="1622389" cy="7555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Workflow Orchestration Engine(</a:t>
            </a:r>
            <a:r>
              <a:rPr kumimoji="0" lang="en-IN" sz="14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LangGraph</a:t>
            </a:r>
            <a:r>
              <a:rPr kumimoji="0" lang="en-IN" sz="1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1B2445-058E-E886-BDDA-5A3BE53B9063}"/>
              </a:ext>
            </a:extLst>
          </p:cNvPr>
          <p:cNvSpPr/>
          <p:nvPr/>
        </p:nvSpPr>
        <p:spPr>
          <a:xfrm>
            <a:off x="7131085" y="2905019"/>
            <a:ext cx="1563624" cy="7555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MCP Server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70AF37-CF91-A2FF-818C-64B414DE9C02}"/>
              </a:ext>
            </a:extLst>
          </p:cNvPr>
          <p:cNvSpPr/>
          <p:nvPr/>
        </p:nvSpPr>
        <p:spPr>
          <a:xfrm>
            <a:off x="4985443" y="2905019"/>
            <a:ext cx="1563624" cy="7555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Agent Pool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(8 Specialized Agents)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1D0E7D-ADAB-D7C5-7AE1-ECA64EDCFDD9}"/>
              </a:ext>
            </a:extLst>
          </p:cNvPr>
          <p:cNvSpPr/>
          <p:nvPr/>
        </p:nvSpPr>
        <p:spPr>
          <a:xfrm>
            <a:off x="5419372" y="942779"/>
            <a:ext cx="1563624" cy="7555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Monitoring &amp; Observability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256838-93BD-9FB8-D3EB-3758BFB23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236" y="1117215"/>
            <a:ext cx="898948" cy="46977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DA32A8-0F3E-40B6-90FE-356AE10740EF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6549067" y="3282779"/>
            <a:ext cx="58201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6DDD66-1930-3A30-1641-48C64934BA81}"/>
              </a:ext>
            </a:extLst>
          </p:cNvPr>
          <p:cNvCxnSpPr>
            <a:cxnSpLocks/>
          </p:cNvCxnSpPr>
          <p:nvPr/>
        </p:nvCxnSpPr>
        <p:spPr>
          <a:xfrm>
            <a:off x="8694709" y="3291923"/>
            <a:ext cx="58201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658381-6484-06EF-CDCB-650256298537}"/>
              </a:ext>
            </a:extLst>
          </p:cNvPr>
          <p:cNvCxnSpPr>
            <a:cxnSpLocks/>
          </p:cNvCxnSpPr>
          <p:nvPr/>
        </p:nvCxnSpPr>
        <p:spPr>
          <a:xfrm>
            <a:off x="4403425" y="3291923"/>
            <a:ext cx="58201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zure Database for PostgreSQL product icon/illustration for a technical architecture diagram, flat vector style matching a minimalist flowchart, clean crisp edges, simple geometric forms, azure blue and PostgreSQL-inspired blue accents with subtle white highlights, depict a managed cloud PostgreSQL database with a database cylinder integrated with a cloud/Azure platform cue, professional enterprise software aesthetic, no shadows, no gradients, no extra labels, transparent background">
            <a:extLst>
              <a:ext uri="{FF2B5EF4-FFF2-40B4-BE49-F238E27FC236}">
                <a16:creationId xmlns:a16="http://schemas.microsoft.com/office/drawing/2014/main" id="{DAAA5EF0-BF65-41A0-943F-B0B70783A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3930" y="3684836"/>
            <a:ext cx="323720" cy="22266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CA0FFFC-1022-B103-5AD1-22D0E9749E71}"/>
              </a:ext>
            </a:extLst>
          </p:cNvPr>
          <p:cNvSpPr/>
          <p:nvPr/>
        </p:nvSpPr>
        <p:spPr>
          <a:xfrm>
            <a:off x="9276727" y="2914163"/>
            <a:ext cx="1563624" cy="75552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Azure PostgreSQL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674C0C-714B-F5CC-3C51-95B51B90ED68}"/>
              </a:ext>
            </a:extLst>
          </p:cNvPr>
          <p:cNvSpPr/>
          <p:nvPr/>
        </p:nvSpPr>
        <p:spPr>
          <a:xfrm>
            <a:off x="237744" y="1012551"/>
            <a:ext cx="1770983" cy="764837"/>
          </a:xfrm>
          <a:prstGeom prst="roundRect">
            <a:avLst/>
          </a:prstGeom>
          <a:noFill/>
          <a:ln w="12700" cap="flat" cmpd="sng" algn="ctr">
            <a:solidFill>
              <a:srgbClr val="FFE600"/>
            </a:solidFill>
            <a:prstDash val="dash"/>
          </a:ln>
          <a:effectLst/>
        </p:spPr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8A1EED-62B2-CBDD-D3F0-826836C527AF}"/>
              </a:ext>
            </a:extLst>
          </p:cNvPr>
          <p:cNvSpPr txBox="1"/>
          <p:nvPr/>
        </p:nvSpPr>
        <p:spPr>
          <a:xfrm>
            <a:off x="306241" y="1348096"/>
            <a:ext cx="147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Azure Webapp / App Service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14B435E-3691-C536-6579-E44C6CCE1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01" y="1106771"/>
            <a:ext cx="323957" cy="30370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9DAABB8-44B1-C490-8472-5CC5CB2B5B17}"/>
              </a:ext>
            </a:extLst>
          </p:cNvPr>
          <p:cNvSpPr/>
          <p:nvPr/>
        </p:nvSpPr>
        <p:spPr>
          <a:xfrm>
            <a:off x="306241" y="1892975"/>
            <a:ext cx="1563625" cy="297579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highlight>
                  <a:srgbClr val="FFE600"/>
                </a:highlight>
                <a:uLnTx/>
                <a:uFillTx/>
                <a:latin typeface="EYInterstate Light"/>
                <a:ea typeface="+mn-ea"/>
                <a:cs typeface="+mn-cs"/>
              </a:rPr>
              <a:t>Deployment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7EBF33C-E474-A120-B4DB-9286C4197175}"/>
              </a:ext>
            </a:extLst>
          </p:cNvPr>
          <p:cNvSpPr/>
          <p:nvPr/>
        </p:nvSpPr>
        <p:spPr>
          <a:xfrm>
            <a:off x="3468215" y="827937"/>
            <a:ext cx="5275844" cy="1155292"/>
          </a:xfrm>
          <a:prstGeom prst="roundRect">
            <a:avLst>
              <a:gd name="adj" fmla="val 14908"/>
            </a:avLst>
          </a:prstGeom>
          <a:noFill/>
          <a:ln w="12700" cap="flat" cmpd="sng" algn="ctr">
            <a:solidFill>
              <a:srgbClr val="FFE600"/>
            </a:solidFill>
            <a:prstDash val="dash"/>
          </a:ln>
          <a:effectLst/>
        </p:spPr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3F193C-80AC-4B46-0D14-D2751E6C2E93}"/>
              </a:ext>
            </a:extLst>
          </p:cNvPr>
          <p:cNvSpPr/>
          <p:nvPr/>
        </p:nvSpPr>
        <p:spPr>
          <a:xfrm>
            <a:off x="397459" y="2695250"/>
            <a:ext cx="1395001" cy="1555010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95000"/>
              </a:sysClr>
            </a:solidFill>
            <a:prstDash val="dash"/>
          </a:ln>
          <a:effectLst/>
        </p:spPr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A174E6A-19BE-47DA-9366-0DBE9D76A5A8}"/>
              </a:ext>
            </a:extLst>
          </p:cNvPr>
          <p:cNvGrpSpPr/>
          <p:nvPr/>
        </p:nvGrpSpPr>
        <p:grpSpPr>
          <a:xfrm>
            <a:off x="394281" y="2692652"/>
            <a:ext cx="1395001" cy="270090"/>
            <a:chOff x="4780270" y="3243324"/>
            <a:chExt cx="1487840" cy="51337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CD488FB-726C-DACD-29CF-BBF4EB1F1DEB}"/>
                </a:ext>
              </a:extLst>
            </p:cNvPr>
            <p:cNvSpPr/>
            <p:nvPr/>
          </p:nvSpPr>
          <p:spPr>
            <a:xfrm rot="5400000">
              <a:off x="5268078" y="2756662"/>
              <a:ext cx="512224" cy="1487840"/>
            </a:xfrm>
            <a:prstGeom prst="rect">
              <a:avLst/>
            </a:prstGeom>
            <a:solidFill>
              <a:srgbClr val="74748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t" anchorCtr="0"/>
            <a:lstStyle/>
            <a:p>
              <a:pPr marL="0" marR="0" lvl="0" indent="0" algn="ctr" defTabSz="9134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E600"/>
                </a:highlight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91E6AFC-1662-5C69-5601-966F04D30FA8}"/>
                </a:ext>
              </a:extLst>
            </p:cNvPr>
            <p:cNvSpPr/>
            <p:nvPr/>
          </p:nvSpPr>
          <p:spPr>
            <a:xfrm>
              <a:off x="4830921" y="3243324"/>
              <a:ext cx="1437189" cy="3992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3486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FFE600"/>
                </a:buClr>
                <a:buSzPct val="70000"/>
                <a:buFontTx/>
                <a:buNone/>
                <a:tabLst/>
                <a:defRPr/>
              </a:pPr>
              <a:r>
                <a:rPr kumimoji="0" lang="en-IN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EYInterstate Regular" panose="02000503020000020004" pitchFamily="2" charset="0"/>
                  <a:ea typeface="+mn-ea"/>
                  <a:cs typeface="+mn-cs"/>
                </a:rPr>
                <a:t>Experience Layer       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AC948EB-8B99-C43C-FEC5-EF69C08F4886}"/>
              </a:ext>
            </a:extLst>
          </p:cNvPr>
          <p:cNvSpPr txBox="1"/>
          <p:nvPr/>
        </p:nvSpPr>
        <p:spPr>
          <a:xfrm>
            <a:off x="769035" y="2922925"/>
            <a:ext cx="7729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Advisor UI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3D8EB1-A66C-AD4D-02AC-260745E1BF0E}"/>
              </a:ext>
            </a:extLst>
          </p:cNvPr>
          <p:cNvSpPr txBox="1"/>
          <p:nvPr/>
        </p:nvSpPr>
        <p:spPr>
          <a:xfrm>
            <a:off x="1044334" y="3167134"/>
            <a:ext cx="562849" cy="33855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Agent Factory</a:t>
            </a:r>
          </a:p>
        </p:txBody>
      </p:sp>
      <p:pic>
        <p:nvPicPr>
          <p:cNvPr id="36" name="Graphic 35" descr="User with solid fill">
            <a:extLst>
              <a:ext uri="{FF2B5EF4-FFF2-40B4-BE49-F238E27FC236}">
                <a16:creationId xmlns:a16="http://schemas.microsoft.com/office/drawing/2014/main" id="{6F554449-6FC2-6B46-568C-5ED641F5D2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843" y="3469132"/>
            <a:ext cx="429727" cy="429727"/>
          </a:xfrm>
          <a:prstGeom prst="rect">
            <a:avLst/>
          </a:prstGeom>
        </p:spPr>
      </p:pic>
      <p:pic>
        <p:nvPicPr>
          <p:cNvPr id="37" name="Graphic 36" descr="User with solid fill">
            <a:extLst>
              <a:ext uri="{FF2B5EF4-FFF2-40B4-BE49-F238E27FC236}">
                <a16:creationId xmlns:a16="http://schemas.microsoft.com/office/drawing/2014/main" id="{C9E3E9E1-C890-94B8-4DB1-7C323DDC7C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534" y="3473219"/>
            <a:ext cx="429727" cy="429727"/>
          </a:xfrm>
          <a:prstGeom prst="rect">
            <a:avLst/>
          </a:prstGeom>
        </p:spPr>
      </p:pic>
      <p:pic>
        <p:nvPicPr>
          <p:cNvPr id="38" name="Graphic 37" descr="User with solid fill">
            <a:extLst>
              <a:ext uri="{FF2B5EF4-FFF2-40B4-BE49-F238E27FC236}">
                <a16:creationId xmlns:a16="http://schemas.microsoft.com/office/drawing/2014/main" id="{71C710BB-EAC9-F2EF-D00E-F92F39C5B0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1539" y="3473218"/>
            <a:ext cx="429727" cy="42972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A290A21-4A95-F7C5-2522-DF6A6B3713AF}"/>
              </a:ext>
            </a:extLst>
          </p:cNvPr>
          <p:cNvSpPr txBox="1"/>
          <p:nvPr/>
        </p:nvSpPr>
        <p:spPr>
          <a:xfrm>
            <a:off x="547804" y="3998970"/>
            <a:ext cx="12747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Persona Based login</a:t>
            </a:r>
          </a:p>
        </p:txBody>
      </p:sp>
      <p:sp>
        <p:nvSpPr>
          <p:cNvPr id="40" name="Cylinder 39">
            <a:extLst>
              <a:ext uri="{FF2B5EF4-FFF2-40B4-BE49-F238E27FC236}">
                <a16:creationId xmlns:a16="http://schemas.microsoft.com/office/drawing/2014/main" id="{9BB93306-33A1-78CB-4557-72792CB21C4A}"/>
              </a:ext>
            </a:extLst>
          </p:cNvPr>
          <p:cNvSpPr/>
          <p:nvPr/>
        </p:nvSpPr>
        <p:spPr>
          <a:xfrm>
            <a:off x="8722911" y="4624043"/>
            <a:ext cx="1107631" cy="522218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Domain Agent Schema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Aeon2 schema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Prompt Versioning</a:t>
            </a:r>
          </a:p>
        </p:txBody>
      </p:sp>
      <p:sp>
        <p:nvSpPr>
          <p:cNvPr id="41" name="Cylinder 40">
            <a:extLst>
              <a:ext uri="{FF2B5EF4-FFF2-40B4-BE49-F238E27FC236}">
                <a16:creationId xmlns:a16="http://schemas.microsoft.com/office/drawing/2014/main" id="{CA1E3DB7-CE0D-253C-74D5-E48FF6F09F7D}"/>
              </a:ext>
            </a:extLst>
          </p:cNvPr>
          <p:cNvSpPr/>
          <p:nvPr/>
        </p:nvSpPr>
        <p:spPr>
          <a:xfrm>
            <a:off x="10292788" y="4647673"/>
            <a:ext cx="1095125" cy="474958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Vector Db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404F977-7A90-43B0-0DD1-8263D87C1650}"/>
              </a:ext>
            </a:extLst>
          </p:cNvPr>
          <p:cNvSpPr/>
          <p:nvPr/>
        </p:nvSpPr>
        <p:spPr>
          <a:xfrm>
            <a:off x="2435955" y="2747159"/>
            <a:ext cx="8826511" cy="1155291"/>
          </a:xfrm>
          <a:prstGeom prst="roundRect">
            <a:avLst/>
          </a:prstGeom>
          <a:noFill/>
          <a:ln w="9525" cap="flat" cmpd="sng" algn="ctr">
            <a:solidFill>
              <a:srgbClr val="FFE600"/>
            </a:solidFill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605302D-A890-36CB-5AF3-1CF20C308530}"/>
              </a:ext>
            </a:extLst>
          </p:cNvPr>
          <p:cNvCxnSpPr>
            <a:cxnSpLocks/>
            <a:stCxn id="24" idx="2"/>
            <a:endCxn id="41" idx="1"/>
          </p:cNvCxnSpPr>
          <p:nvPr/>
        </p:nvCxnSpPr>
        <p:spPr>
          <a:xfrm>
            <a:off x="10058539" y="3669683"/>
            <a:ext cx="781812" cy="97799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05C10AB-033F-64E3-FE03-9453A52BFE64}"/>
              </a:ext>
            </a:extLst>
          </p:cNvPr>
          <p:cNvCxnSpPr>
            <a:cxnSpLocks/>
            <a:stCxn id="24" idx="2"/>
            <a:endCxn id="40" idx="1"/>
          </p:cNvCxnSpPr>
          <p:nvPr/>
        </p:nvCxnSpPr>
        <p:spPr>
          <a:xfrm flipH="1">
            <a:off x="9276727" y="3669683"/>
            <a:ext cx="781812" cy="95436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AA1AB59-F8EB-0F68-B136-D3DE4E903351}"/>
              </a:ext>
            </a:extLst>
          </p:cNvPr>
          <p:cNvSpPr/>
          <p:nvPr/>
        </p:nvSpPr>
        <p:spPr>
          <a:xfrm>
            <a:off x="2355965" y="4235995"/>
            <a:ext cx="9172909" cy="1155292"/>
          </a:xfrm>
          <a:prstGeom prst="roundRect">
            <a:avLst/>
          </a:prstGeom>
          <a:noFill/>
          <a:ln w="12700" cap="flat" cmpd="sng" algn="ctr">
            <a:solidFill>
              <a:srgbClr val="FFE600"/>
            </a:solidFill>
            <a:prstDash val="dash"/>
          </a:ln>
          <a:effectLst/>
        </p:spPr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53" name="Parallelogramm 14">
            <a:extLst>
              <a:ext uri="{FF2B5EF4-FFF2-40B4-BE49-F238E27FC236}">
                <a16:creationId xmlns:a16="http://schemas.microsoft.com/office/drawing/2014/main" id="{712133E2-D04A-E50D-D1CE-0C0E1B83231D}"/>
              </a:ext>
            </a:extLst>
          </p:cNvPr>
          <p:cNvSpPr>
            <a:spLocks/>
          </p:cNvSpPr>
          <p:nvPr/>
        </p:nvSpPr>
        <p:spPr>
          <a:xfrm rot="10800000" flipV="1">
            <a:off x="2642606" y="2255612"/>
            <a:ext cx="7812922" cy="256295"/>
          </a:xfrm>
          <a:prstGeom prst="trapezoid">
            <a:avLst>
              <a:gd name="adj" fmla="val 1527631"/>
            </a:avLst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txBody>
          <a:bodyPr lIns="117000" rIns="117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FA1AD0-5A6C-A778-59AE-33C805EFF35F}"/>
              </a:ext>
            </a:extLst>
          </p:cNvPr>
          <p:cNvSpPr txBox="1"/>
          <p:nvPr/>
        </p:nvSpPr>
        <p:spPr>
          <a:xfrm>
            <a:off x="5911178" y="2069517"/>
            <a:ext cx="17033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Development/Production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 Regular" panose="02000503020000020004" pitchFamily="2" charset="0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069BD1-57DB-126B-E19E-3584E429E688}"/>
              </a:ext>
            </a:extLst>
          </p:cNvPr>
          <p:cNvSpPr/>
          <p:nvPr/>
        </p:nvSpPr>
        <p:spPr>
          <a:xfrm>
            <a:off x="2795036" y="4537866"/>
            <a:ext cx="1875140" cy="551550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95000"/>
              </a:sysClr>
            </a:solidFill>
            <a:prstDash val="dash"/>
          </a:ln>
          <a:effectLst/>
        </p:spPr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B675B9A-DF99-E7E1-FB11-F036BB79B7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9826" y="4629009"/>
            <a:ext cx="348389" cy="328481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40848B4F-B1AF-34BB-2532-4E93C40AD710}"/>
              </a:ext>
            </a:extLst>
          </p:cNvPr>
          <p:cNvSpPr/>
          <p:nvPr/>
        </p:nvSpPr>
        <p:spPr>
          <a:xfrm>
            <a:off x="2841268" y="4378357"/>
            <a:ext cx="1780604" cy="210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3486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FFE600"/>
              </a:buClr>
              <a:buSzPct val="70000"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Orchestration/Backend Layer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0B1074FA-B728-84FD-DD41-1722BDA097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114" y="4647673"/>
            <a:ext cx="974216" cy="287269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0756B7D-05CA-A7A0-4B3B-4EED81AFA3D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789282" y="3291923"/>
            <a:ext cx="99175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Picture 72">
            <a:extLst>
              <a:ext uri="{FF2B5EF4-FFF2-40B4-BE49-F238E27FC236}">
                <a16:creationId xmlns:a16="http://schemas.microsoft.com/office/drawing/2014/main" id="{88B69D06-62B3-53B3-810D-7B1603A113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1988" y="4588415"/>
            <a:ext cx="630503" cy="369075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4F95221F-3854-41AB-2EA3-3AFF07DD94CD}"/>
              </a:ext>
            </a:extLst>
          </p:cNvPr>
          <p:cNvSpPr txBox="1"/>
          <p:nvPr/>
        </p:nvSpPr>
        <p:spPr>
          <a:xfrm>
            <a:off x="5314084" y="4974001"/>
            <a:ext cx="9284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Azure OpenAI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1DEC9CA-36BE-E7B8-E52E-B798281F6938}"/>
              </a:ext>
            </a:extLst>
          </p:cNvPr>
          <p:cNvCxnSpPr>
            <a:cxnSpLocks/>
            <a:stCxn id="7" idx="2"/>
            <a:endCxn id="73" idx="0"/>
          </p:cNvCxnSpPr>
          <p:nvPr/>
        </p:nvCxnSpPr>
        <p:spPr>
          <a:xfrm flipH="1">
            <a:off x="5767240" y="3660539"/>
            <a:ext cx="15" cy="9278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F504E63A-B551-28EA-A4DD-DA219A1E3A01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4479850" y="2782063"/>
            <a:ext cx="399771" cy="2175009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8EF708E2-E724-677B-9B96-3DEB2F5E1415}"/>
              </a:ext>
            </a:extLst>
          </p:cNvPr>
          <p:cNvSpPr txBox="1"/>
          <p:nvPr/>
        </p:nvSpPr>
        <p:spPr>
          <a:xfrm>
            <a:off x="313095" y="630787"/>
            <a:ext cx="1476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API Layer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2965C97-A63C-9598-42CF-FCB93AC5839A}"/>
              </a:ext>
            </a:extLst>
          </p:cNvPr>
          <p:cNvSpPr txBox="1"/>
          <p:nvPr/>
        </p:nvSpPr>
        <p:spPr>
          <a:xfrm>
            <a:off x="4985443" y="3872101"/>
            <a:ext cx="1476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Synthesizer Node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9E40530-8975-FCE9-4D15-3AB2A826D405}"/>
              </a:ext>
            </a:extLst>
          </p:cNvPr>
          <p:cNvSpPr txBox="1"/>
          <p:nvPr/>
        </p:nvSpPr>
        <p:spPr>
          <a:xfrm>
            <a:off x="4994917" y="2538940"/>
            <a:ext cx="1476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Supervisor Node</a:t>
            </a:r>
          </a:p>
        </p:txBody>
      </p:sp>
      <p:sp>
        <p:nvSpPr>
          <p:cNvPr id="91" name="Arrow: Down 90">
            <a:extLst>
              <a:ext uri="{FF2B5EF4-FFF2-40B4-BE49-F238E27FC236}">
                <a16:creationId xmlns:a16="http://schemas.microsoft.com/office/drawing/2014/main" id="{E812CDCC-E859-2F24-5C0C-6F70D1E843A2}"/>
              </a:ext>
            </a:extLst>
          </p:cNvPr>
          <p:cNvSpPr/>
          <p:nvPr/>
        </p:nvSpPr>
        <p:spPr>
          <a:xfrm>
            <a:off x="3392424" y="3669682"/>
            <a:ext cx="484632" cy="57675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86CFADF-440E-DBA2-C0F8-6C7E43107B50}"/>
              </a:ext>
            </a:extLst>
          </p:cNvPr>
          <p:cNvSpPr/>
          <p:nvPr/>
        </p:nvSpPr>
        <p:spPr>
          <a:xfrm>
            <a:off x="6440360" y="4647673"/>
            <a:ext cx="848256" cy="399331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highlight>
                  <a:srgbClr val="FFE600"/>
                </a:highlight>
                <a:uLnTx/>
                <a:uFillTx/>
                <a:latin typeface="EYInterstate Light"/>
                <a:ea typeface="+mn-ea"/>
                <a:cs typeface="+mn-cs"/>
              </a:rPr>
              <a:t>State Memory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2F35296F-932B-E170-470B-FE4D7EC57415}"/>
              </a:ext>
            </a:extLst>
          </p:cNvPr>
          <p:cNvCxnSpPr>
            <a:cxnSpLocks/>
            <a:stCxn id="7" idx="2"/>
            <a:endCxn id="99" idx="0"/>
          </p:cNvCxnSpPr>
          <p:nvPr/>
        </p:nvCxnSpPr>
        <p:spPr>
          <a:xfrm rot="16200000" flipH="1">
            <a:off x="5822304" y="3605489"/>
            <a:ext cx="987134" cy="109723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A09CA3FF-FBF1-6A04-2C67-6A729F896425}"/>
              </a:ext>
            </a:extLst>
          </p:cNvPr>
          <p:cNvSpPr txBox="1"/>
          <p:nvPr/>
        </p:nvSpPr>
        <p:spPr>
          <a:xfrm>
            <a:off x="9175836" y="2553721"/>
            <a:ext cx="1476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Data Layer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0CB10AC-8A19-8A17-E7E9-58C541EE0B9E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1115527" y="2255611"/>
            <a:ext cx="0" cy="43704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2DBCC218-939E-B52C-ADC4-D0A8748B0073}"/>
              </a:ext>
            </a:extLst>
          </p:cNvPr>
          <p:cNvSpPr txBox="1"/>
          <p:nvPr/>
        </p:nvSpPr>
        <p:spPr>
          <a:xfrm>
            <a:off x="675514" y="2319013"/>
            <a:ext cx="1476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API Calls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3AA0CD-86A5-08A3-2169-CCF11CA1AEEC}"/>
              </a:ext>
            </a:extLst>
          </p:cNvPr>
          <p:cNvSpPr txBox="1"/>
          <p:nvPr/>
        </p:nvSpPr>
        <p:spPr>
          <a:xfrm>
            <a:off x="6982996" y="1290167"/>
            <a:ext cx="14761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OpenTelemetry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YInterstate Regular" panose="02000503020000020004" pitchFamily="2" charset="0"/>
              <a:ea typeface="+mn-ea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3E7D8EE-1EF9-135B-7F89-B4CD9E4D5C89}"/>
              </a:ext>
            </a:extLst>
          </p:cNvPr>
          <p:cNvSpPr/>
          <p:nvPr/>
        </p:nvSpPr>
        <p:spPr>
          <a:xfrm>
            <a:off x="3753707" y="5809772"/>
            <a:ext cx="1182641" cy="326035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highlight>
                  <a:srgbClr val="FFE600"/>
                </a:highlight>
                <a:uLnTx/>
                <a:uFillTx/>
                <a:latin typeface="EYInterstate Light"/>
                <a:ea typeface="+mn-ea"/>
                <a:cs typeface="+mn-cs"/>
              </a:rPr>
              <a:t>Supervisor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A3A121B-4305-7CD5-9A19-877609199302}"/>
              </a:ext>
            </a:extLst>
          </p:cNvPr>
          <p:cNvSpPr/>
          <p:nvPr/>
        </p:nvSpPr>
        <p:spPr>
          <a:xfrm>
            <a:off x="2097739" y="5798962"/>
            <a:ext cx="1182641" cy="326035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highlight>
                  <a:srgbClr val="FFE600"/>
                </a:highlight>
                <a:uLnTx/>
                <a:uFillTx/>
                <a:latin typeface="EYInterstate Light"/>
                <a:ea typeface="+mn-ea"/>
                <a:cs typeface="+mn-cs"/>
              </a:rPr>
              <a:t>Planner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696C521-DBFF-3C22-4952-7730227B114A}"/>
              </a:ext>
            </a:extLst>
          </p:cNvPr>
          <p:cNvSpPr/>
          <p:nvPr/>
        </p:nvSpPr>
        <p:spPr>
          <a:xfrm>
            <a:off x="441772" y="5803254"/>
            <a:ext cx="1182640" cy="326038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highlight>
                  <a:srgbClr val="FFE600"/>
                </a:highlight>
                <a:uLnTx/>
                <a:uFillTx/>
                <a:latin typeface="EYInterstate Light"/>
                <a:ea typeface="+mn-ea"/>
                <a:cs typeface="+mn-cs"/>
              </a:rPr>
              <a:t>Router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highlight>
                <a:srgbClr val="FFE600"/>
              </a:highlight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846D720-DEAA-F26C-428F-17E4953B2C4C}"/>
              </a:ext>
            </a:extLst>
          </p:cNvPr>
          <p:cNvSpPr/>
          <p:nvPr/>
        </p:nvSpPr>
        <p:spPr>
          <a:xfrm>
            <a:off x="5366426" y="5809771"/>
            <a:ext cx="1182641" cy="326035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highlight>
                  <a:srgbClr val="FFE600"/>
                </a:highlight>
                <a:uLnTx/>
                <a:uFillTx/>
                <a:latin typeface="EYInterstate Light"/>
                <a:ea typeface="+mn-ea"/>
                <a:cs typeface="+mn-cs"/>
              </a:rPr>
              <a:t>Agent Factory(9 domain agents)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35881B8-CB0A-8D33-1220-3EB6336B1D3A}"/>
              </a:ext>
            </a:extLst>
          </p:cNvPr>
          <p:cNvSpPr txBox="1"/>
          <p:nvPr/>
        </p:nvSpPr>
        <p:spPr>
          <a:xfrm>
            <a:off x="486570" y="3153171"/>
            <a:ext cx="471237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 Regular" panose="02000503020000020004" pitchFamily="2" charset="0"/>
                <a:ea typeface="+mn-ea"/>
                <a:cs typeface="+mn-cs"/>
              </a:rPr>
              <a:t>Loveable UI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9741A62-6FD9-F245-0BE2-38B8093BD1EA}"/>
              </a:ext>
            </a:extLst>
          </p:cNvPr>
          <p:cNvSpPr/>
          <p:nvPr/>
        </p:nvSpPr>
        <p:spPr>
          <a:xfrm>
            <a:off x="7448667" y="4624043"/>
            <a:ext cx="877713" cy="422961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2E2E38"/>
                </a:solidFill>
                <a:effectLst/>
                <a:highlight>
                  <a:srgbClr val="FFE600"/>
                </a:highlight>
                <a:uLnTx/>
                <a:uFillTx/>
                <a:latin typeface="EYInterstate Light"/>
                <a:ea typeface="+mn-ea"/>
                <a:cs typeface="+mn-cs"/>
              </a:rPr>
              <a:t>Long Term Memory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highlight>
                <a:srgbClr val="FFE600"/>
              </a:highlight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9E6DDC8-96B7-6FFF-6F0F-88BD2788CFBD}"/>
              </a:ext>
            </a:extLst>
          </p:cNvPr>
          <p:cNvSpPr/>
          <p:nvPr/>
        </p:nvSpPr>
        <p:spPr>
          <a:xfrm>
            <a:off x="403071" y="5013875"/>
            <a:ext cx="1182640" cy="377412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0" marR="0" lvl="0" indent="0" algn="ctr" defTabSz="9134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highlight>
                  <a:srgbClr val="FFE600"/>
                </a:highlight>
                <a:uLnTx/>
                <a:uFillTx/>
                <a:latin typeface="EYInterstate Light"/>
                <a:ea typeface="+mn-ea"/>
                <a:cs typeface="+mn-cs"/>
              </a:rPr>
              <a:t>4 workflows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BE66064-8B50-B87B-EF5F-D06957120609}"/>
              </a:ext>
            </a:extLst>
          </p:cNvPr>
          <p:cNvCxnSpPr>
            <a:cxnSpLocks/>
            <a:stCxn id="99" idx="3"/>
            <a:endCxn id="121" idx="1"/>
          </p:cNvCxnSpPr>
          <p:nvPr/>
        </p:nvCxnSpPr>
        <p:spPr>
          <a:xfrm flipV="1">
            <a:off x="7288616" y="4835524"/>
            <a:ext cx="160051" cy="118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04DF6813-5251-3FC4-B7D4-D4DD3FFB6954}"/>
              </a:ext>
            </a:extLst>
          </p:cNvPr>
          <p:cNvCxnSpPr>
            <a:cxnSpLocks/>
            <a:stCxn id="5" idx="1"/>
            <a:endCxn id="122" idx="3"/>
          </p:cNvCxnSpPr>
          <p:nvPr/>
        </p:nvCxnSpPr>
        <p:spPr>
          <a:xfrm rot="10800000" flipV="1">
            <a:off x="1585712" y="3291923"/>
            <a:ext cx="1195325" cy="19106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D523E2B-1355-25AC-3C33-2E0958CEDC8B}"/>
              </a:ext>
            </a:extLst>
          </p:cNvPr>
          <p:cNvCxnSpPr>
            <a:cxnSpLocks/>
            <a:stCxn id="117" idx="3"/>
            <a:endCxn id="116" idx="1"/>
          </p:cNvCxnSpPr>
          <p:nvPr/>
        </p:nvCxnSpPr>
        <p:spPr>
          <a:xfrm flipV="1">
            <a:off x="1624412" y="5961980"/>
            <a:ext cx="473327" cy="429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7B8C137F-4D15-F2DA-1701-51564A7E0709}"/>
              </a:ext>
            </a:extLst>
          </p:cNvPr>
          <p:cNvCxnSpPr>
            <a:cxnSpLocks/>
          </p:cNvCxnSpPr>
          <p:nvPr/>
        </p:nvCxnSpPr>
        <p:spPr>
          <a:xfrm flipV="1">
            <a:off x="3302005" y="5986185"/>
            <a:ext cx="473327" cy="429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B1B2067-96D8-E463-C44F-EA52B51BC41A}"/>
              </a:ext>
            </a:extLst>
          </p:cNvPr>
          <p:cNvCxnSpPr>
            <a:cxnSpLocks/>
          </p:cNvCxnSpPr>
          <p:nvPr/>
        </p:nvCxnSpPr>
        <p:spPr>
          <a:xfrm flipV="1">
            <a:off x="4893099" y="5986185"/>
            <a:ext cx="473327" cy="429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149ECB2-65FE-938C-6C7D-3C27281F87F2}"/>
              </a:ext>
            </a:extLst>
          </p:cNvPr>
          <p:cNvCxnSpPr>
            <a:cxnSpLocks/>
            <a:stCxn id="122" idx="2"/>
          </p:cNvCxnSpPr>
          <p:nvPr/>
        </p:nvCxnSpPr>
        <p:spPr>
          <a:xfrm>
            <a:off x="994391" y="5391287"/>
            <a:ext cx="28788" cy="35994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3688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EYInterstate Light</vt:lpstr>
      <vt:lpstr>EYInterstate Regular</vt:lpstr>
      <vt:lpstr>1_Office Theme</vt:lpstr>
      <vt:lpstr>think-cell Slide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Singh</dc:creator>
  <cp:lastModifiedBy>Vishal Singh</cp:lastModifiedBy>
  <cp:revision>1</cp:revision>
  <dcterms:created xsi:type="dcterms:W3CDTF">2026-05-28T11:10:33Z</dcterms:created>
  <dcterms:modified xsi:type="dcterms:W3CDTF">2026-05-28T11:10:57Z</dcterms:modified>
</cp:coreProperties>
</file>